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011680"/>
            <a:ext cx="6766560" cy="67665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9047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D4ED8"/>
                </a:solidFill>
                <a:latin typeface="Microsoft YaHei"/>
                <a:ea typeface="Microsoft YaHei"/>
              </a:rPr>
              <a:t>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179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3C5FD"/>
                </a:solidFill>
                <a:latin typeface="Microsoft YaHei"/>
                <a:ea typeface="Microsoft YaHei"/>
              </a:rPr>
              <a:t>PROCUREFLOW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</a:rPr>
              <a:t>采购审批中心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443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C7D6F0"/>
                </a:solidFill>
                <a:latin typeface="Microsoft YaHei"/>
                <a:ea typeface="Microsoft YaHei"/>
              </a:rPr>
              <a:t>企业采购申请与分级审批平台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B9C8E6"/>
                </a:solidFill>
                <a:latin typeface="Microsoft YaHei"/>
                <a:ea typeface="Microsoft YaHei"/>
              </a:rPr>
              <a:t>从申请、分级审批到财务复核，一条链路跑完；规则可配置，操作全留痕，并发不重复。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28032"/>
            <a:ext cx="1874519" cy="365760"/>
          </a:xfrm>
          <a:prstGeom prst="roundRect">
            <a:avLst>
              <a:gd name="adj" fmla="val 40000"/>
            </a:avLst>
          </a:prstGeom>
          <a:solidFill>
            <a:srgbClr val="1B2B4A"/>
          </a:solidFill>
          <a:ln w="12700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50" b="0" i="0">
                <a:solidFill>
                  <a:srgbClr val="C7D6F0"/>
                </a:solidFill>
                <a:latin typeface="Microsoft YaHei"/>
                <a:ea typeface="Microsoft YaHei"/>
              </a:rPr>
              <a:t>Spring Boot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4828032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1B2B4A"/>
          </a:solidFill>
          <a:ln w="12700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50" b="0" i="0">
                <a:solidFill>
                  <a:srgbClr val="C7D6F0"/>
                </a:solidFill>
                <a:latin typeface="Microsoft YaHei"/>
                <a:ea typeface="Microsoft YaHei"/>
              </a:rPr>
              <a:t>Vue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7096" y="4828032"/>
            <a:ext cx="1481328" cy="365760"/>
          </a:xfrm>
          <a:prstGeom prst="roundRect">
            <a:avLst>
              <a:gd name="adj" fmla="val 40000"/>
            </a:avLst>
          </a:prstGeom>
          <a:solidFill>
            <a:srgbClr val="1B2B4A"/>
          </a:solidFill>
          <a:ln w="12700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50" b="0" i="0">
                <a:solidFill>
                  <a:srgbClr val="C7D6F0"/>
                </a:solidFill>
                <a:latin typeface="Microsoft YaHei"/>
                <a:ea typeface="Microsoft YaHei"/>
              </a:rPr>
              <a:t>45 项测试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4728" y="4828032"/>
            <a:ext cx="1572768" cy="365760"/>
          </a:xfrm>
          <a:prstGeom prst="roundRect">
            <a:avLst>
              <a:gd name="adj" fmla="val 40000"/>
            </a:avLst>
          </a:prstGeom>
          <a:solidFill>
            <a:srgbClr val="1B2B4A"/>
          </a:solidFill>
          <a:ln w="12700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50" b="0" i="0">
                <a:solidFill>
                  <a:srgbClr val="C7D6F0"/>
                </a:solidFill>
                <a:latin typeface="Microsoft YaHei"/>
                <a:ea typeface="Microsoft YaHei"/>
              </a:rPr>
              <a:t>单端口部署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7D8FB3"/>
                </a:solidFill>
                <a:latin typeface="Microsoft YaHei"/>
                <a:ea typeface="Microsoft YaHei"/>
              </a:rPr>
              <a:t>AI Coding 实战案例 · 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9893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 i="0">
                <a:solidFill>
                  <a:srgbClr val="7D8FB3"/>
                </a:solidFill>
                <a:latin typeface="Microsoft YaHei"/>
                <a:ea typeface="Microsoft YaHei"/>
              </a:rPr>
              <a:t>汇报人：____________    日期：____________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一页看懂这个项目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Microsoft YaHei"/>
                <a:ea typeface="Microsoft YaHei"/>
              </a:rPr>
              <a:t>把「谁在什么情况下能对哪张单做什么」这条规则，变成可执行、可验证、可追溯的代码。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50292" cy="1783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53288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081527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张核心表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337413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用户 / 申请单 / 审批流水，覆盖归属、状态与留痕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33172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331720"/>
            <a:ext cx="50292" cy="1783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53288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563EB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081527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个 REST 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337413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统一响应信封，区分 400 / 401 / 403 / 404 / 409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33172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2331720"/>
            <a:ext cx="50292" cy="178308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53288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5803D"/>
                </a:solidFill>
                <a:latin typeface="Microsoft YaHei"/>
                <a:ea typeface="Microsoft YaHei"/>
              </a:rP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081527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项自动化测试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37413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19 个 JUnit + 26 项接口校验，全部通过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331720"/>
            <a:ext cx="25420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15400" y="2331720"/>
            <a:ext cx="50292" cy="17830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253288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B45309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3081527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个状态节点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337413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含金额分级的双段审批，终态不可再变更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26280"/>
            <a:ext cx="10771632" cy="1234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7365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</a:rPr>
              <a:t>这个案例特别在哪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718304"/>
            <a:ext cx="8321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0F172A"/>
                </a:solidFill>
                <a:latin typeface="Microsoft YaHei"/>
                <a:ea typeface="Microsoft YaHei"/>
              </a:rPr>
              <a:t>不是「用 AI 写个增删改查」，而是选了一个规则密集、边界敏感的业务：金额分级、四角色数据范围、并发重复审批——每个问题都有对应代码，也都有对应断言。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真实企业里的三个痛点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1077163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45309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28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</a:rPr>
              <a:t>审批规则靠人记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12848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多少钱该找谁签？5000 元到底要不要财务？口头规则执行起来经常走样。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18288" cy="77724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83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45309"/>
                </a:solidFill>
                <a:latin typeface="Microsoft YaHei"/>
                <a:ea typeface="Microsoft YaHei"/>
              </a:rPr>
              <a:t>应对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0F172A"/>
                </a:solidFill>
                <a:latin typeface="Microsoft YaHei"/>
                <a:ea typeface="Microsoft YaHei"/>
              </a:rPr>
              <a:t>把阈值写进配置，把边界写进单元测试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82112"/>
            <a:ext cx="1077163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182112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83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91C1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6499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</a:rPr>
              <a:t>权限只藏了按钮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49039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前端把「审批」按钮隐藏了，但接口没校验，改个请求就能越权。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56432"/>
            <a:ext cx="18288" cy="77724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4198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91C1C"/>
                </a:solidFill>
                <a:latin typeface="Microsoft YaHei"/>
                <a:ea typeface="Microsoft YaHei"/>
              </a:rPr>
              <a:t>应对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307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0F172A"/>
                </a:solidFill>
                <a:latin typeface="Microsoft YaHei"/>
                <a:ea typeface="Microsoft YaHei"/>
              </a:rPr>
              <a:t>权限判断下沉到服务层，前端隐藏只是体验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18304"/>
            <a:ext cx="1077163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718304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9194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5803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90118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</a:rPr>
              <a:t>并发产生重复审批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285232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两个人同时点「通过」，落下两条审批记录，事后无法追溯。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992624"/>
            <a:ext cx="18288" cy="77724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956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5803D"/>
                </a:solidFill>
                <a:latin typeface="Microsoft YaHei"/>
                <a:ea typeface="Microsoft YaHei"/>
              </a:rPr>
              <a:t>应对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26694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0F172A"/>
                </a:solidFill>
                <a:latin typeface="Microsoft YaHei"/>
                <a:ea typeface="Microsoft YaHei"/>
              </a:rPr>
              <a:t>实体乐观锁 + 审计流水，只有一人成功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角色与权限：把边界写成矩阵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4748B"/>
                </a:solidFill>
                <a:latin typeface="Microsoft YaHei"/>
                <a:ea typeface="Microsoft YaHei"/>
              </a:rPr>
              <a:t>权限拆成两层：角色决定「能做什么动作」，数据范围决定「能看到哪些单」。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011680"/>
          <a:ext cx="10771632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011680"/>
                <a:gridCol w="2331720"/>
                <a:gridCol w="1965960"/>
                <a:gridCol w="162763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操作</a:t>
                      </a:r>
                    </a:p>
                  </a:txBody>
                  <a:tcPr anchor="ctr" marL="109728" marR="54864" marT="0" marB="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员工</a:t>
                      </a:r>
                    </a:p>
                  </a:txBody>
                  <a:tcPr anchor="ctr" marL="109728" marR="54864" marT="0" marB="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部门主管</a:t>
                      </a:r>
                    </a:p>
                  </a:txBody>
                  <a:tcPr anchor="ctr" marL="109728" marR="54864" marT="0" marB="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财务</a:t>
                      </a:r>
                    </a:p>
                  </a:txBody>
                  <a:tcPr anchor="ctr" marL="109728" marR="54864" marT="0" marB="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管理员</a:t>
                      </a:r>
                    </a:p>
                  </a:txBody>
                  <a:tcPr anchor="ctr" marL="109728" marR="54864" marT="0" marB="0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创建 / 提交申请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本人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审批·主管节点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本部门且非本人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审批·财务节点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全部待复核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作废单据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本人未终态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任意未终态</a:t>
                      </a:r>
                    </a:p>
                  </a:txBody>
                  <a:tcPr anchor="ctr" marL="109728" marR="54864" marT="0" marB="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列表可见范围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仅本人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本部门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非草稿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全部</a:t>
                      </a:r>
                    </a:p>
                  </a:txBody>
                  <a:tcPr anchor="ctr" marL="109728" marR="54864" marT="0" marB="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440680"/>
            <a:ext cx="107716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Microsoft YaHei"/>
                <a:ea typeface="Microsoft YaHei"/>
              </a:rPr>
              <a:t>关键取舍：管理员只可见与作废，不参与审批——审批权属于业务职责，不能由系统管理员代行。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审批状态机：六态，两条审批链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64748B"/>
                </a:solidFill>
                <a:latin typeface="Microsoft YaHei"/>
                <a:ea typeface="Microsoft YaHei"/>
              </a:rPr>
              <a:t>草稿</a:t>
            </a:r>
          </a:p>
          <a:p>
            <a:pPr algn="ctr"/>
            <a:r>
              <a:rPr sz="850" b="1" i="0">
                <a:solidFill>
                  <a:srgbClr val="64748B"/>
                </a:solidFill>
                <a:latin typeface="Microsoft YaHei"/>
                <a:ea typeface="Microsoft YaHei"/>
              </a:rPr>
              <a:t>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B45309"/>
                </a:solidFill>
                <a:latin typeface="Microsoft YaHei"/>
                <a:ea typeface="Microsoft YaHei"/>
              </a:rPr>
              <a:t>待主管审批</a:t>
            </a:r>
          </a:p>
          <a:p>
            <a:pPr algn="ctr"/>
            <a:r>
              <a:rPr sz="850" b="1" i="0">
                <a:solidFill>
                  <a:srgbClr val="B45309"/>
                </a:solidFill>
                <a:latin typeface="Microsoft YaHei"/>
                <a:ea typeface="Microsoft YaHei"/>
              </a:rPr>
              <a:t>PENDING_MANAGER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2563EB"/>
                </a:solidFill>
                <a:latin typeface="Microsoft YaHei"/>
                <a:ea typeface="Microsoft YaHei"/>
              </a:rPr>
              <a:t>待财务复核</a:t>
            </a:r>
          </a:p>
          <a:p>
            <a:pPr algn="ctr"/>
            <a:r>
              <a:rPr sz="850" b="1" i="0">
                <a:solidFill>
                  <a:srgbClr val="2563EB"/>
                </a:solidFill>
                <a:latin typeface="Microsoft YaHei"/>
                <a:ea typeface="Microsoft YaHei"/>
              </a:rPr>
              <a:t>PENDING_FINANCE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21488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E9F8E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15803D"/>
                </a:solidFill>
                <a:latin typeface="Microsoft YaHei"/>
                <a:ea typeface="Microsoft YaHei"/>
              </a:rPr>
              <a:t>已通过</a:t>
            </a:r>
          </a:p>
          <a:p>
            <a:pPr algn="ctr"/>
            <a:r>
              <a:rPr sz="850" b="1" i="0">
                <a:solidFill>
                  <a:srgbClr val="15803D"/>
                </a:solidFill>
                <a:latin typeface="Microsoft YaHei"/>
                <a:ea typeface="Microsoft YaHei"/>
              </a:rPr>
              <a:t>APPROVED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89504" y="2487168"/>
            <a:ext cx="29260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874519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提交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3328" y="2487168"/>
            <a:ext cx="256032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1874519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B45309"/>
                </a:solidFill>
                <a:latin typeface="Microsoft YaHei"/>
                <a:ea typeface="Microsoft YaHei"/>
              </a:rPr>
              <a:t>≥ 5000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62288" y="2487168"/>
            <a:ext cx="274320" cy="201168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874519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5803D"/>
                </a:solidFill>
                <a:latin typeface="Microsoft YaHei"/>
                <a:ea typeface="Microsoft YaHei"/>
              </a:rPr>
              <a:t>财务通过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4787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563EB"/>
                </a:solidFill>
                <a:latin typeface="Microsoft YaHei"/>
                <a:ea typeface="Microsoft YaHei"/>
              </a:rPr>
              <a:t>↑ 金额 &lt; 5000：主管通过后直接进入 APPROVED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9966960" cy="1234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任意非终态可出边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45152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Microsoft YaHei"/>
                <a:ea typeface="Microsoft YaHei"/>
              </a:rPr>
              <a:t>驳回 → REJECTED（必须填原因）        作废 → CANCELLED（申请人撤回或管理员操作）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961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Microsoft YaHei"/>
                <a:ea typeface="Microsoft YaHei"/>
              </a:rPr>
              <a:t>设计要点：终态不再出边，所有写操作先判断 isTerminal()，避免「已通过的单子还能再批一次」。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技术架构：分层清晰，单端口交付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E8F0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浏览器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46504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Vue 3 SPA · hash 路由 · session/toast 两个响应式模块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22576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web 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496312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Controller 只做参数绑定 · Dto 用 record · 全局异常翻译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72384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security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4612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AuthInterceptor 认证 · UserContext 线程上下文 · TokenStore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22191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959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service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995928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PurchaseService 编排事务 · ApprovalPolicy 纯规则（可单测）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72000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4573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repo 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745736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JPA Repository + Specification 组合查询（数据范围进 where）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21807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Microsoft YaHei"/>
                <a:ea typeface="Microsoft YaHei"/>
              </a:rPr>
              <a:t>数据库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495544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H2 内存库（MySQL 兼容模式），生产可平滑替换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1572768"/>
            <a:ext cx="2542032" cy="4206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79222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93C5FD"/>
                </a:solidFill>
                <a:latin typeface="Microsoft YaHei"/>
                <a:ea typeface="Microsoft YaHei"/>
              </a:rPr>
              <a:t>三条硬约束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12848"/>
            <a:ext cx="2103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7D6F0"/>
                </a:solidFill>
                <a:latin typeface="Microsoft YaHei"/>
                <a:ea typeface="Microsoft YaHei"/>
              </a:rPr>
              <a:t>权限判断必须在服务层，前端隐藏按钮不算安全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91839"/>
            <a:ext cx="2103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7D6F0"/>
                </a:solidFill>
                <a:latin typeface="Microsoft YaHei"/>
                <a:ea typeface="Microsoft YaHei"/>
              </a:rPr>
              <a:t>数据范围进 SQL，不能查出来再内存筛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370831"/>
            <a:ext cx="2103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7D6F0"/>
                </a:solidFill>
                <a:latin typeface="Microsoft YaHei"/>
                <a:ea typeface="Microsoft YaHei"/>
              </a:rPr>
              <a:t>状态变更与流水写入同一事务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KEY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关键设计 ①：金额边界不能拍脑袋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4748B"/>
                </a:solidFill>
                <a:latin typeface="Microsoft YaHei"/>
                <a:ea typeface="Microsoft YaHei"/>
              </a:rPr>
              <a:t>「≥ 5000 走财务」看起来一句话，落地时要回答：正好 5000 算哪边？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4,999.99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276856"/>
            <a:ext cx="1965960" cy="347472"/>
          </a:xfrm>
          <a:prstGeom prst="roundRect">
            <a:avLst>
              <a:gd name="adj" fmla="val 40000"/>
            </a:avLst>
          </a:prstGeom>
          <a:solidFill>
            <a:srgbClr val="E9F8E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950" b="1" i="0">
                <a:solidFill>
                  <a:srgbClr val="15803D"/>
                </a:solidFill>
                <a:latin typeface="Microsoft YaHei"/>
                <a:ea typeface="Microsoft YaHei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主管终审即可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98648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5,000.00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3026664"/>
            <a:ext cx="1965960" cy="347472"/>
          </a:xfrm>
          <a:prstGeom prst="roundRect">
            <a:avLst>
              <a:gd name="adj" fmla="val 40000"/>
            </a:avLst>
          </a:prstGeom>
          <a:solidFill>
            <a:srgbClr val="FDF3E3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950" b="1" i="0">
                <a:solidFill>
                  <a:srgbClr val="B45309"/>
                </a:solidFill>
                <a:latin typeface="Microsoft YaHei"/>
                <a:ea typeface="Microsoft YaHei"/>
              </a:rPr>
              <a:t>PENDING_FINANCE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81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必须财务复核（边界含等于）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48456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5,000.01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3776472"/>
            <a:ext cx="1965960" cy="347472"/>
          </a:xfrm>
          <a:prstGeom prst="roundRect">
            <a:avLst>
              <a:gd name="adj" fmla="val 40000"/>
            </a:avLst>
          </a:prstGeom>
          <a:solidFill>
            <a:srgbClr val="FDF3E3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950" b="1" i="0">
                <a:solidFill>
                  <a:srgbClr val="B45309"/>
                </a:solidFill>
                <a:latin typeface="Microsoft YaHei"/>
                <a:ea typeface="Microsoft YaHei"/>
              </a:rPr>
              <a:t>PENDING_FINANCE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313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必须财务复核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148840"/>
            <a:ext cx="4617720" cy="2084831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3317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3C5FD"/>
                </a:solidFill>
                <a:latin typeface="Consolas"/>
                <a:ea typeface="Microsoft YaHei"/>
              </a:rPr>
              <a:t>ApprovalPolicy.java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670048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E2E8F0"/>
                </a:solidFill>
                <a:latin typeface="Consolas"/>
                <a:ea typeface="Microsoft YaHei"/>
              </a:rPr>
              <a:t>if (status == PENDING_MANAGER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E2E8F0"/>
                </a:solidFill>
                <a:latin typeface="Consolas"/>
                <a:ea typeface="Microsoft YaHei"/>
              </a:rPr>
              <a:t>    &amp;&amp; amount.compareTo(threshold) &gt;= 0) {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E2E8F0"/>
                </a:solidFill>
                <a:latin typeface="Consolas"/>
                <a:ea typeface="Microsoft YaHei"/>
              </a:rPr>
              <a:t>    return PENDING_FINANCE;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E2E8F0"/>
                </a:solidFill>
                <a:latin typeface="Consolas"/>
                <a:ea typeface="Microsoft YaHei"/>
              </a:rPr>
              <a:t>}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E2E8F0"/>
                </a:solidFill>
                <a:latin typeface="Consolas"/>
                <a:ea typeface="Microsoft YaHei"/>
              </a:rPr>
              <a:t>return APPROVED;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00600"/>
            <a:ext cx="107716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</a:rPr>
              <a:t>为什么不用 double：金额计算不能有二进制浮点误差——这是财务系统的硬要求。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0F172A"/>
                </a:solidFill>
                <a:latin typeface="Microsoft YaHei"/>
                <a:ea typeface="Microsoft YaHei"/>
              </a:rPr>
              <a:t>为什么写单测：把「≥」这个符号固定成可执行断言，谁改错谁的红灯亮。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KEY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关键设计 ②：两个人同时点「通过」怎么办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4748B"/>
                </a:solidFill>
                <a:latin typeface="Microsoft YaHei"/>
                <a:ea typeface="Microsoft YaHei"/>
              </a:rPr>
              <a:t>审批是典型的「读—校验—写」。不加控制，两人都会读到「待审批」，然后都写入。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4086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4748B"/>
                </a:solidFill>
                <a:latin typeface="Microsoft YaHei"/>
                <a:ea typeface="Microsoft YaHei"/>
              </a:rPr>
              <a:t>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52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两个请求都读到 version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10312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234086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4748B"/>
                </a:solidFill>
                <a:latin typeface="Microsoft YaHei"/>
                <a:ea typeface="Microsoft YaHei"/>
              </a:rPr>
              <a:t>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52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两人都通过权限与状态校验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10312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34086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5803D"/>
                </a:solidFill>
                <a:latin typeface="Microsoft YaHei"/>
                <a:ea typeface="Microsoft YaHei"/>
              </a:rPr>
              <a:t>写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852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UPDATE ... WHERE version = 0 → 成功，version =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0536" y="210312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1704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234086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91C1C"/>
                </a:solidFill>
                <a:latin typeface="Microsoft YaHei"/>
                <a:ea typeface="Microsoft YaHei"/>
              </a:rPr>
              <a:t>写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852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同样条件影响 0 行 → 抛乐观锁异常 → 409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49039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13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B91C1C"/>
                </a:solidFill>
                <a:latin typeface="Microsoft YaHei"/>
                <a:ea typeface="Microsoft YaHei"/>
              </a:rPr>
              <a:t>做不到的话会发生什么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· 同一张单产生两条审批流水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· 后续追溯时不知道以谁为准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· 财务可能重复付款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749039"/>
            <a:ext cx="5257800" cy="192024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913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63EB"/>
                </a:solidFill>
                <a:latin typeface="Microsoft YaHei"/>
                <a:ea typeface="Microsoft YaHei"/>
              </a:rPr>
              <a:t>为什么选乐观锁而不是悲观锁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251960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0F172A"/>
                </a:solidFill>
                <a:latin typeface="Microsoft YaHei"/>
                <a:ea typeface="Microsoft YaHei"/>
              </a:rPr>
              <a:t>· 审批是读多写少，冲突概率低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0F172A"/>
                </a:solidFill>
                <a:latin typeface="Microsoft YaHei"/>
                <a:ea typeface="Microsoft YaHei"/>
              </a:rPr>
              <a:t>· 悲观锁会长时间占用连接，容易死锁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0F172A"/>
                </a:solidFill>
                <a:latin typeface="Microsoft YaHei"/>
                <a:ea typeface="Microsoft YaHei"/>
              </a:rPr>
              <a:t>· 冲突时让用户刷新重试，本身就是正确体验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数据模型：三张表撑起整条链路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Microsoft YaHei"/>
                <a:ea typeface="Microsoft YaHei"/>
              </a:rPr>
              <a:t>申请单与审批流水分开：一张表存「当前状态」，另一张表存「怎么变成这个状态的」。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3456432" cy="56692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Microsoft YaHei"/>
                <a:ea typeface="Microsoft YaHei"/>
              </a:rPr>
              <a:t>申请单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563EB"/>
                </a:solidFill>
                <a:latin typeface="Consolas"/>
                <a:ea typeface="Microsoft YaHei"/>
              </a:rPr>
              <a:t>purchase_request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id / code（唯一单号）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title / reason / category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amount DECIMAL(14,2)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department / applicant_*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status / version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created_at / updated_at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05740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1688" y="2057400"/>
            <a:ext cx="3456432" cy="566928"/>
          </a:xfrm>
          <a:prstGeom prst="roundRect">
            <a:avLst>
              <a:gd name="adj" fmla="val 6000"/>
            </a:avLst>
          </a:prstGeom>
          <a:solidFill>
            <a:srgbClr val="E9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1945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5803D"/>
                </a:solidFill>
                <a:latin typeface="Microsoft YaHei"/>
                <a:ea typeface="Microsoft YaHei"/>
              </a:rPr>
              <a:t>审批流水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5803D"/>
                </a:solidFill>
                <a:latin typeface="Consolas"/>
                <a:ea typeface="Microsoft YaHei"/>
              </a:rPr>
              <a:t>approval_record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61488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id / request_id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action（6 种动作）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from_status / to_status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operator_username / name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operator_role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comment / created_at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205740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37575" y="2057400"/>
            <a:ext cx="3456432" cy="56692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1945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45309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487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45309"/>
                </a:solidFill>
                <a:latin typeface="Consolas"/>
                <a:ea typeface="Microsoft YaHei"/>
              </a:rPr>
              <a:t>app_user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761488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id / username（唯一）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display_name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department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role（4 种角色）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password（演示明文）</a:t>
            </a:r>
          </a:p>
          <a:p>
            <a:pPr algn="l">
              <a:lnSpc>
                <a:spcPct val="17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10771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Microsoft YaHei"/>
                <a:ea typeface="Microsoft YaHei"/>
              </a:rPr>
              <a:t>两张表的分工：申请单回答「现在是什么状态」，流水回答「经历了几步、谁改的、为什么」——后者只增不改。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质量：45 项测试把规则钉死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54203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0292" cy="1463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180136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563EB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350008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JUnit 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4261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9 单元 + 10 集成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00200"/>
            <a:ext cx="254203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600200"/>
            <a:ext cx="50292" cy="1463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180136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563EB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350008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接口校验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64261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9 组黑盒场景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254203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1600200"/>
            <a:ext cx="50292" cy="146304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180136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5803D"/>
                </a:solidFill>
                <a:latin typeface="Microsoft YaHei"/>
                <a:ea typeface="Microsoft YaHei"/>
              </a:rPr>
              <a:t>45/45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350008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全部通过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64261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0 失败 0 错误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600200"/>
            <a:ext cx="254203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15400" y="1600200"/>
            <a:ext cx="50292" cy="146304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1801368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B45309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2350008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遗留缺陷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642615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4748B"/>
                </a:solidFill>
                <a:latin typeface="Microsoft YaHei"/>
                <a:ea typeface="Microsoft YaHei"/>
              </a:rPr>
              <a:t>5 项发现均已修复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3756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Microsoft YaHei"/>
                <a:ea typeface="Microsoft YaHei"/>
              </a:rPr>
              <a:t>最有价值的三条用例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30752"/>
            <a:ext cx="51206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89534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Microsoft YaHei"/>
                <a:ea typeface="Microsoft YaHei"/>
              </a:rPr>
              <a:t>金额边界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90448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4999.99 / 5000.00 / 5000.01 三档，锁死「≥」口径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443984"/>
            <a:ext cx="51206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6085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Microsoft YaHei"/>
                <a:ea typeface="Microsoft YaHei"/>
              </a:rPr>
              <a:t>并发审批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6177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双线程同时审批，断言只有一成功且流水只有一条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157216"/>
            <a:ext cx="51206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3218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Microsoft YaHei"/>
                <a:ea typeface="Microsoft YaHei"/>
              </a:rPr>
              <a:t>越权防护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33095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绕过前端直接调接口，断言仍返回 403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337560"/>
            <a:ext cx="5330952" cy="23317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5021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93C5FD"/>
                </a:solidFill>
                <a:latin typeface="Microsoft YaHei"/>
                <a:ea typeface="Microsoft YaHei"/>
              </a:rPr>
              <a:t>并发用例的输出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84048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950" b="0" i="0">
                <a:solidFill>
                  <a:srgbClr val="D6E2F5"/>
                </a:solidFill>
                <a:latin typeface="Consolas"/>
                <a:ea typeface="Microsoft YaHei"/>
              </a:rPr>
              <a:t>PASS  并发结果为一个 200 + 一个 409</a:t>
            </a:r>
          </a:p>
          <a:p>
            <a:pPr algn="l">
              <a:lnSpc>
                <a:spcPct val="160000"/>
              </a:lnSpc>
            </a:pPr>
            <a:r>
              <a:rPr sz="950" b="0" i="0">
                <a:solidFill>
                  <a:srgbClr val="D6E2F5"/>
                </a:solidFill>
                <a:latin typeface="Consolas"/>
                <a:ea typeface="Microsoft YaHei"/>
              </a:rPr>
              <a:t>PASS  审批流水只有一条 APPROVE</a:t>
            </a:r>
          </a:p>
          <a:p>
            <a:pPr algn="l">
              <a:lnSpc>
                <a:spcPct val="160000"/>
              </a:lnSpc>
            </a:pPr>
            <a:r>
              <a:rPr sz="950" b="0" i="0">
                <a:solidFill>
                  <a:srgbClr val="D6E2F5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950" b="0" i="0">
                <a:solidFill>
                  <a:srgbClr val="D6E2F5"/>
                </a:solidFill>
                <a:latin typeface="Consolas"/>
                <a:ea typeface="Microsoft YaHei"/>
              </a:rPr>
              <a:t>FAIL 条件：失败原因必须是乐观锁异常，</a:t>
            </a:r>
          </a:p>
          <a:p>
            <a:pPr algn="l">
              <a:lnSpc>
                <a:spcPct val="160000"/>
              </a:lnSpc>
            </a:pPr>
            <a:r>
              <a:rPr sz="950" b="0" i="0">
                <a:solidFill>
                  <a:srgbClr val="D6E2F5"/>
                </a:solidFill>
                <a:latin typeface="Consolas"/>
                <a:ea typeface="Microsoft YaHei"/>
              </a:rPr>
              <a:t>      而不是任意异常 —— 否则测试假通过。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AI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AI 协作：谁负责写，谁负责判断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212080" cy="621792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7393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563EB"/>
                </a:solidFill>
                <a:latin typeface="Microsoft YaHei"/>
                <a:ea typeface="Microsoft YaHei"/>
              </a:rPr>
              <a:t>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563EB"/>
                </a:solidFill>
                <a:latin typeface="Microsoft YaHei"/>
                <a:ea typeface="Microsoft YaHei"/>
              </a:rPr>
              <a:t>定义与判断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957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定义业务规则：谁审、多少钱、能否自审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拆分功能与验收标准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4564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判断「这样写会不会出事」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98678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审查、质疑、修正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0020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600200"/>
            <a:ext cx="5212080" cy="621792"/>
          </a:xfrm>
          <a:prstGeom prst="roundRect">
            <a:avLst>
              <a:gd name="adj" fmla="val 6000"/>
            </a:avLst>
          </a:prstGeom>
          <a:solidFill>
            <a:srgbClr val="E9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7393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5803D"/>
                </a:solidFill>
                <a:latin typeface="Microsoft YaHei"/>
                <a:ea typeface="Microsoft YaHei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28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5803D"/>
                </a:solidFill>
                <a:latin typeface="Microsoft YaHei"/>
                <a:ea typeface="Microsoft YaHei"/>
              </a:rPr>
              <a:t>生成与提速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957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生成规格文档骨架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生成实体、仓储、控制器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4564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生成页面与组件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98678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F172A"/>
                </a:solidFill>
                <a:latin typeface="Microsoft YaHei"/>
                <a:ea typeface="Microsoft YaHei"/>
              </a:rPr>
              <a:t>· 生成测试用例、排查报错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46320"/>
            <a:ext cx="10771632" cy="1051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2920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0F172A"/>
                </a:solidFill>
                <a:latin typeface="Microsoft YaHei"/>
                <a:ea typeface="Microsoft YaHei"/>
              </a:rPr>
              <a:t>一句话：AI 负责「写出来」，人负责「定义对」和「判断会不会出事」。能被测试固定的才算实现，不能被验证的只是「像那么回事」。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提示词的差别，就是产出的差别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91640"/>
          <a:ext cx="1077163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657600"/>
                <a:gridCol w="5696712"/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anchor="ctr" marL="109728" marR="91440" marT="0" marB="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效果差的写法</a:t>
                      </a:r>
                    </a:p>
                  </a:txBody>
                  <a:tcPr anchor="ctr" marL="109728" marR="91440" marT="0" marB="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可执行的写法</a:t>
                      </a:r>
                    </a:p>
                  </a:txBody>
                  <a:tcPr anchor="ctr" marL="109728" marR="91440" marT="0" marB="0"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0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定义需求</a:t>
                      </a:r>
                    </a:p>
                  </a:txBody>
                  <a:tcPr anchor="ctr" marL="109728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写一个审批系统</a:t>
                      </a:r>
                    </a:p>
                  </a:txBody>
                  <a:tcPr anchor="ctr" marL="109728" marR="91440" marT="0" marB="0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145A36"/>
                          </a:solidFill>
                          <a:latin typeface="Microsoft YaHei"/>
                          <a:ea typeface="Microsoft YaHei"/>
                        </a:rPr>
                        <a:t>四角色，金额≥5000 走财务，主管只能审本部门且不能审自己</a:t>
                      </a:r>
                    </a:p>
                  </a:txBody>
                  <a:tcPr anchor="ctr" marL="109728" marR="91440" marT="0" marB="0">
                    <a:solidFill>
                      <a:srgbClr val="E9F8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0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约束安全</a:t>
                      </a:r>
                    </a:p>
                  </a:txBody>
                  <a:tcPr anchor="ctr" marL="109728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注意安全</a:t>
                      </a:r>
                    </a:p>
                  </a:txBody>
                  <a:tcPr anchor="ctr" marL="109728" marR="91440" marT="0" marB="0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145A36"/>
                          </a:solidFill>
                          <a:latin typeface="Microsoft YaHei"/>
                          <a:ea typeface="Microsoft YaHei"/>
                        </a:rPr>
                        <a:t>权限判断必须在服务层，前端隐藏按钮不算；越权返回 403</a:t>
                      </a:r>
                    </a:p>
                  </a:txBody>
                  <a:tcPr anchor="ctr" marL="109728" marR="91440" marT="0" marB="0">
                    <a:solidFill>
                      <a:srgbClr val="E9F8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0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处理边界</a:t>
                      </a:r>
                    </a:p>
                  </a:txBody>
                  <a:tcPr anchor="ctr" marL="109728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处理一下边界</a:t>
                      </a:r>
                    </a:p>
                  </a:txBody>
                  <a:tcPr anchor="ctr" marL="109728" marR="91440" marT="0" marB="0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145A36"/>
                          </a:solidFill>
                          <a:latin typeface="Microsoft YaHei"/>
                          <a:ea typeface="Microsoft YaHei"/>
                        </a:rPr>
                        <a:t>列出这个需求最容易被忽略的 5 个边界问题</a:t>
                      </a:r>
                    </a:p>
                  </a:txBody>
                  <a:tcPr anchor="ctr" marL="109728" marR="91440" marT="0" marB="0">
                    <a:solidFill>
                      <a:srgbClr val="E9F8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050" b="1" i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</a:rPr>
                        <a:t>写测试</a:t>
                      </a:r>
                    </a:p>
                  </a:txBody>
                  <a:tcPr anchor="ctr" marL="109728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测试一下</a:t>
                      </a:r>
                    </a:p>
                  </a:txBody>
                  <a:tcPr anchor="ctr" marL="109728" marR="91440" marT="0" marB="0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145A36"/>
                          </a:solidFill>
                          <a:latin typeface="Microsoft YaHei"/>
                          <a:ea typeface="Microsoft YaHei"/>
                        </a:rPr>
                        <a:t>断言失败原因必须是乐观锁异常，而不是任意异常</a:t>
                      </a:r>
                    </a:p>
                  </a:txBody>
                  <a:tcPr anchor="ctr" marL="109728" marR="91440" marT="0" marB="0">
                    <a:solidFill>
                      <a:srgbClr val="E9F8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138928"/>
            <a:ext cx="10771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Microsoft YaHei"/>
                <a:ea typeface="Microsoft YaHei"/>
              </a:rPr>
              <a:t>把「验收标准」直接写进提示词，比事后返工便宜得多。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64748B"/>
                </a:solidFill>
                <a:latin typeface="Microsoft YaHei"/>
                <a:ea typeface="Microsoft YaHei"/>
              </a:rPr>
              <a:t>「返回 409」比「处理好并发」有用一百倍。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迭代过程：一半时间花在环境上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Microsoft YaHei"/>
                <a:ea typeface="Microsoft YaHei"/>
              </a:rPr>
              <a:t>产品迭代 6 轮，工程问题 9 项。后者不是「代码写错」，但同样消耗时间。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</a:rPr>
              <a:t>产品层面的迭代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4846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onsolas"/>
                <a:ea typeface="Microsoft YaHei"/>
              </a:rPr>
              <a:t>v0.1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三态状态机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71216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无法表达两级审批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55848"/>
            <a:ext cx="4846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onsolas"/>
                <a:ea typeface="Microsoft YaHei"/>
              </a:rPr>
              <a:t>v0.3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4728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禁止自审自批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39896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内控漏洞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24528"/>
            <a:ext cx="4846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1596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onsolas"/>
                <a:ea typeface="Microsoft YaHei"/>
              </a:rPr>
              <a:t>v0.4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1596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财务只看非草稿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08576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草稿属申请人隐私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93208"/>
            <a:ext cx="4846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8464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onsolas"/>
                <a:ea typeface="Microsoft YaHei"/>
              </a:rPr>
              <a:t>v0.5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8464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Microsoft YaHei"/>
                <a:ea typeface="Microsoft YaHei"/>
              </a:rPr>
              <a:t>加乐观锁 + 409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77256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Microsoft YaHei"/>
                <a:ea typeface="Microsoft YaHei"/>
              </a:rPr>
              <a:t>并发会重复审批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</a:rPr>
              <a:t>工程层面的问题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2487168"/>
            <a:ext cx="5559552" cy="56692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6334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无 JDK/Maven → 便携工具链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3172968"/>
            <a:ext cx="555955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33192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依赖树过深致路径超限 → 去掉 UI 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3858768"/>
            <a:ext cx="5559552" cy="56692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40050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构建被沙箱拦截 → 定位后放宽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4544568"/>
            <a:ext cx="555955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46908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Mockito 无法 attach → 换 mock maker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5230368"/>
            <a:ext cx="5559552" cy="56692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53766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Microsoft YaHei"/>
                <a:ea typeface="Microsoft YaHei"/>
              </a:rPr>
              <a:t>jar 被占用无法打包 → 先停服务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989320"/>
            <a:ext cx="10771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复盘：如果重来，会先花 30 分钟把工具链跑通再写业务代码。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63EB"/>
                </a:solidFill>
                <a:latin typeface="Microsoft YaHei"/>
                <a:ea typeface="Microsoft YaHei"/>
              </a:rPr>
              <a:t>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F172A"/>
                </a:solidFill>
                <a:latin typeface="Microsoft YaHei"/>
                <a:ea typeface="Microsoft YaHei"/>
              </a:rPr>
              <a:t>运行效果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0584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Microsoft YaHei"/>
                <a:ea typeface="Microsoft YaHei"/>
              </a:rPr>
              <a:t>采购审批中心 · AI Coding 实战案例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528523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2-workbench-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627632"/>
            <a:ext cx="5175504" cy="32346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9194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工作台：按角色过滤的数据范围与统计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72768"/>
            <a:ext cx="528523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03-detail-dra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3" y="1627632"/>
            <a:ext cx="5175504" cy="32346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49194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详情抽屉：审批时间线与节点操作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57800"/>
            <a:ext cx="107716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页面按角色渲染不同按钮，但真正的拦截在服务端——隐藏按钮只是体验，不是安全。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四类角色各自登录的完整截图见 docs/screenshots/。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93C5FD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</a:rPr>
              <a:t>总结与后续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3C5F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规则先于代码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128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9C8E6"/>
                </a:solidFill>
                <a:latin typeface="Microsoft YaHei"/>
                <a:ea typeface="Microsoft YaHei"/>
              </a:rPr>
              <a:t>把「谁审、多少钱、能否自审」定义清楚，代码才有可写的东西。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175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边界用测试固定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447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9C8E6"/>
                </a:solidFill>
                <a:latin typeface="Microsoft YaHei"/>
                <a:ea typeface="Microsoft YaHei"/>
              </a:rPr>
              <a:t>4999.99 / 5000.00 / 5000.01 三档用例，比任何文档都可靠。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2519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权限必须服务端兜底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8172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9C8E6"/>
                </a:solidFill>
                <a:latin typeface="Microsoft YaHei"/>
                <a:ea typeface="Microsoft YaHei"/>
              </a:rPr>
              <a:t>前端隐藏按钮是体验，接口校验才是安全。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32120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1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7D6F0"/>
                </a:solidFill>
                <a:latin typeface="Microsoft YaHei"/>
                <a:ea typeface="Microsoft YaHei"/>
              </a:rPr>
              <a:t>后续：上线前关闭演示开关、口令改 BCrypt、令牌换 JWT、数据库换 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